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57200"/>
            <a:ext cx="12188952" cy="0"/>
          </a:xfrm>
          <a:prstGeom prst="line">
            <a:avLst/>
          </a:prstGeom>
          <a:noFill/>
          <a:ln w="6350">
            <a:solidFill>
              <a:srgbClr val="2EC4B6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21792"/>
            <a:ext cx="12188952" cy="0"/>
          </a:xfrm>
          <a:prstGeom prst="line">
            <a:avLst/>
          </a:prstGeom>
          <a:noFill/>
          <a:ln w="6350">
            <a:solidFill>
              <a:srgbClr val="2EC4B6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786384"/>
            <a:ext cx="12188952" cy="0"/>
          </a:xfrm>
          <a:prstGeom prst="line">
            <a:avLst/>
          </a:prstGeom>
          <a:noFill/>
          <a:ln w="6350">
            <a:solidFill>
              <a:srgbClr val="2EC4B6">
                <a:alpha val="4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950976"/>
            <a:ext cx="12188952" cy="0"/>
          </a:xfrm>
          <a:prstGeom prst="line">
            <a:avLst/>
          </a:prstGeom>
          <a:noFill/>
          <a:ln w="6350">
            <a:solidFill>
              <a:srgbClr val="2EC4B6">
                <a:alpha val="5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1115568"/>
            <a:ext cx="12188952" cy="0"/>
          </a:xfrm>
          <a:prstGeom prst="line">
            <a:avLst/>
          </a:prstGeom>
          <a:noFill/>
          <a:ln w="6350">
            <a:solidFill>
              <a:srgbClr val="2EC4B6">
                <a:alpha val="6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1280160"/>
            <a:ext cx="12188952" cy="0"/>
          </a:xfrm>
          <a:prstGeom prst="line">
            <a:avLst/>
          </a:prstGeom>
          <a:noFill/>
          <a:ln w="6350">
            <a:solidFill>
              <a:srgbClr val="2EC4B6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143000"/>
            <a:ext cx="1280160" cy="0"/>
          </a:xfrm>
          <a:prstGeom prst="line">
            <a:avLst/>
          </a:prstGeom>
          <a:noFill/>
          <a:ln w="63500">
            <a:solidFill>
              <a:srgbClr val="00D4A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325880"/>
            <a:ext cx="1280160" cy="0"/>
          </a:xfrm>
          <a:prstGeom prst="line">
            <a:avLst/>
          </a:prstGeom>
          <a:noFill/>
          <a:ln w="63500">
            <a:solidFill>
              <a:srgbClr val="00D4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DiveConnect</a:t>
            </a:r>
            <a:endParaRPr lang="en-US" sz="8000" dirty="0"/>
          </a:p>
        </p:txBody>
      </p:sp>
      <p:sp>
        <p:nvSpPr>
          <p:cNvPr id="12" name="Text 10"/>
          <p:cNvSpPr/>
          <p:nvPr/>
        </p:nvSpPr>
        <p:spPr>
          <a:xfrm>
            <a:off x="731520" y="3200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BEE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social y plataforma de reservas para la comunidad submarinista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31520" y="4023360"/>
            <a:ext cx="36576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Defensa del Trabajo de Fin de Grado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731520" y="4709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EE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CFGS Desarrollo de Aplicaciones Web · 2º curso · 2025/26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55778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Marcos Mordoñez Estévez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5943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DD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17 · Spring Boot 3.2 · MySQL · HTML/CSS/JS · Stripe · PayPal · Docker · Render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Antes de empezar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Marcos Mordoñez Estévez
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 de 2º DAW. Optativa: Programación en Python y Análisis de Datos.
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voy a defender DiveConnect, un proyecto que cubre los 13 módulos del ciclo. La presentación dura 35-40 minutos y la he estructurado en cuatro bloques:
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931920"/>
            <a:ext cx="26974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4114800"/>
            <a:ext cx="868680" cy="86868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41148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48640" y="50749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y demo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544068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problema, la solución y una demo en vivo del flujo principal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7560" y="3931920"/>
            <a:ext cx="26974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51960" y="4114800"/>
            <a:ext cx="868680" cy="86868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51960" y="41148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429000" y="50749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Profundidad técnica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20440" y="544068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modelo de datos, pasarela de pago y seguridad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3931920"/>
            <a:ext cx="26974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0" y="4114800"/>
            <a:ext cx="868680" cy="86868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0" y="41148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309360" y="50749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y operación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0" y="544068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despliegue y análisis de datos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98280" y="3931920"/>
            <a:ext cx="26974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12680" y="4114800"/>
            <a:ext cx="868680" cy="86868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12680" y="41148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9189720" y="50749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81160" y="544068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técnicas, métricas reales y roadmap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sector está fragmentado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73736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737360"/>
            <a:ext cx="3657600" cy="54864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288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Reservas analógicas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46888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centros de buceo gestionan plazas por correo electrónico, WhatsApp y llamada telefónica. Cobran por transferencia o en mostrador.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7680" y="173736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1737360"/>
            <a:ext cx="3657600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18288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Comunidad dispersa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actividad social está repartida entre Facebook, foros antiguos e Instagram, sin filtros por nivel, profundidad o ubicación.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173736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1737360"/>
            <a:ext cx="3657600" cy="548640"/>
          </a:xfrm>
          <a:prstGeom prst="rect">
            <a:avLst/>
          </a:prstGeom>
          <a:solidFill>
            <a:srgbClr val="1B4965"/>
          </a:solidFill>
          <a:ln w="12700">
            <a:solidFill>
              <a:srgbClr val="1B49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0" y="18288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Diario en papel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12480" y="246888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cuaderno de inmersiones del buceador sigue siendo físico, o un archivo aislado del ordenador de buceo. Sin sincronización ni descubrimiento.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03504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frentes desconectados que generan fricción al usuario y pérdida de oportunidad al centro.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Mercado real en España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828800"/>
            <a:ext cx="26974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828800"/>
            <a:ext cx="54864" cy="2286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011680"/>
            <a:ext cx="2606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 M€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548640" y="320040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anual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buceo recreativo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37560" y="1828800"/>
            <a:ext cx="26974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1828800"/>
            <a:ext cx="54864" cy="2286000"/>
          </a:xfrm>
          <a:prstGeom prst="rect">
            <a:avLst/>
          </a:prstGeom>
          <a:solidFill>
            <a:srgbClr val="1B4965"/>
          </a:solidFill>
          <a:ln w="12700">
            <a:solidFill>
              <a:srgbClr val="1B49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2011680"/>
            <a:ext cx="2606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1B496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2.4 K+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3429000" y="320040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Centros de buceo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828800"/>
            <a:ext cx="26974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1828800"/>
            <a:ext cx="54864" cy="2286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011680"/>
            <a:ext cx="2606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5A6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70 %</a:t>
            </a:r>
            <a:endParaRPr lang="en-US" sz="5000" dirty="0"/>
          </a:p>
        </p:txBody>
      </p:sp>
      <p:sp>
        <p:nvSpPr>
          <p:cNvPr id="19" name="Text 17"/>
          <p:cNvSpPr/>
          <p:nvPr/>
        </p:nvSpPr>
        <p:spPr>
          <a:xfrm>
            <a:off x="6309360" y="320040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Centros sin plataforma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reservas propia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098280" y="1828800"/>
            <a:ext cx="26974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98280" y="1828800"/>
            <a:ext cx="54864" cy="228600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89720" y="2011680"/>
            <a:ext cx="2606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35 %</a:t>
            </a:r>
            <a:endParaRPr lang="en-US" sz="5000" dirty="0"/>
          </a:p>
        </p:txBody>
      </p:sp>
      <p:sp>
        <p:nvSpPr>
          <p:cNvPr id="23" name="Text 21"/>
          <p:cNvSpPr/>
          <p:nvPr/>
        </p:nvSpPr>
        <p:spPr>
          <a:xfrm>
            <a:off x="9189720" y="320040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Buceadores que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reservan online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572000"/>
            <a:ext cx="11430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un hueco real para una plataforma vertical que conecte buceadores con centros y digitalice las reservas. DiveConnect ataca ese hueco con un modelo freemium: comisión 3-5 % por reserva al centro, gratis para el buceador.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60350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FEDAS y observación directa del sector. Datos aproximados.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Tres productos en una sola plataforma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7DD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propuesta de valor con DiveConnect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822960" cy="82296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28346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inmersiones con filtros por nivel, profundidad y precio.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con descuento automático de plazas.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Pasarela de pago real con Stripe Checkout o PayPal sandbox/live.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gestión para centros.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80560" y="1828800"/>
            <a:ext cx="822960" cy="82296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480560" y="28346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social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80560" y="329184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cronológico con datos técnicos: lugar, profundidad, temperatura, visibilidad y especies vistas.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Historias 24h efímeras.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con solicitudes y notificaciones.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interactivo con puntos georreferenciados.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321040" y="1828800"/>
            <a:ext cx="822960" cy="82296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21040" y="28346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digital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0" y="329184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publicación con datos técnicos sirve también de log book.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acumula nivel de certificación, número de inmersiones e historial.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paso: integración con ordenadores de buceo (IoT).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3550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7DD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roles de usuario: USUARIO_COMUN (buceador), USUARIO_EMPRESA (centro), ADMINISTRADOR.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VE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Diseño visual y experiencia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 cálida cream + acento aqua. Tema submarino propio (ocean-theme.css) con glassmorphism, fondo animado, light rays y dock con halo. Responsive móvil con bottom sheets, viewport-fit=cover y safe-area-inset.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548640" cy="548640"/>
          </a:xfrm>
          <a:prstGeom prst="rect">
            <a:avLst/>
          </a:prstGeom>
          <a:solidFill>
            <a:srgbClr val="FFFBF5"/>
          </a:solidFill>
          <a:ln w="6350">
            <a:solidFill>
              <a:srgbClr val="E8E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2880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#FFFBF5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43000" y="3108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60320" y="29260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principal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89120" y="2926080"/>
            <a:ext cx="548640" cy="548640"/>
          </a:xfrm>
          <a:prstGeom prst="rect">
            <a:avLst/>
          </a:prstGeom>
          <a:solidFill>
            <a:srgbClr val="0B1A2B"/>
          </a:solidFill>
          <a:ln w="6350">
            <a:solidFill>
              <a:srgbClr val="E8E3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74920" y="2880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#0B1A2B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74920" y="3108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Navy ink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29260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tipografía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321040" y="2926080"/>
            <a:ext cx="548640" cy="548640"/>
          </a:xfrm>
          <a:prstGeom prst="rect">
            <a:avLst/>
          </a:prstGeom>
          <a:solidFill>
            <a:srgbClr val="00D4AA"/>
          </a:solidFill>
          <a:ln w="6350">
            <a:solidFill>
              <a:srgbClr val="E8E3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06840" y="2880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#00D4AA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006840" y="3108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Seafoam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0" y="29260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acento primario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548640" cy="548640"/>
          </a:xfrm>
          <a:prstGeom prst="rect">
            <a:avLst/>
          </a:prstGeom>
          <a:solidFill>
            <a:srgbClr val="FF6B6B"/>
          </a:solidFill>
          <a:ln w="6350">
            <a:solidFill>
              <a:srgbClr val="E8E3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43000" y="3657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#FF6B6B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43000" y="3886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560320" y="37033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3703320"/>
            <a:ext cx="548640" cy="548640"/>
          </a:xfrm>
          <a:prstGeom prst="rect">
            <a:avLst/>
          </a:prstGeom>
          <a:solidFill>
            <a:srgbClr val="F5A623"/>
          </a:solidFill>
          <a:ln w="6350">
            <a:solidFill>
              <a:srgbClr val="E8E3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3657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#F5A623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74920" y="3886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92240" y="37033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321040" y="3703320"/>
            <a:ext cx="548640" cy="548640"/>
          </a:xfrm>
          <a:prstGeom prst="rect">
            <a:avLst/>
          </a:prstGeom>
          <a:solidFill>
            <a:srgbClr val="62B6CB"/>
          </a:solidFill>
          <a:ln w="6350">
            <a:solidFill>
              <a:srgbClr val="E8E3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06840" y="3657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#62B6CB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006840" y="3886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424160" y="37033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superficial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93776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emojis decorativos. Iconos SVG inline para mantener consistencia entre sistemas operativos. WCAG 2.1 AA verificado.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669280"/>
            <a:ext cx="11430000" cy="640080"/>
          </a:xfrm>
          <a:prstGeom prst="roundRect">
            <a:avLst>
              <a:gd name="adj" fmla="val 14286"/>
            </a:avLst>
          </a:prstGeom>
          <a:solidFill>
            <a:srgbClr val="F5F0EA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566928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continuación lo enseño en vivo en mi navegador.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en vivo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EE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completo del usuario en 5 minutos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3657600"/>
            <a:ext cx="822960" cy="82296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657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572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737360" y="4069080"/>
            <a:ext cx="365760" cy="0"/>
          </a:xfrm>
          <a:prstGeom prst="line">
            <a:avLst/>
          </a:prstGeom>
          <a:noFill/>
          <a:ln w="25400">
            <a:solidFill>
              <a:srgbClr val="2EC4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14600" y="3657600"/>
            <a:ext cx="822960" cy="82296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3657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103120" y="4572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83280" y="4069080"/>
            <a:ext cx="365760" cy="0"/>
          </a:xfrm>
          <a:prstGeom prst="line">
            <a:avLst/>
          </a:prstGeom>
          <a:noFill/>
          <a:ln w="25400">
            <a:solidFill>
              <a:srgbClr val="2EC4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60520" y="3657600"/>
            <a:ext cx="822960" cy="82296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60520" y="3657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749040" y="4572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0" y="4069080"/>
            <a:ext cx="365760" cy="0"/>
          </a:xfrm>
          <a:prstGeom prst="line">
            <a:avLst/>
          </a:prstGeom>
          <a:noFill/>
          <a:ln w="25400">
            <a:solidFill>
              <a:srgbClr val="2EC4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06440" y="3657600"/>
            <a:ext cx="822960" cy="82296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06440" y="3657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394960" y="4572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675120" y="4069080"/>
            <a:ext cx="365760" cy="0"/>
          </a:xfrm>
          <a:prstGeom prst="line">
            <a:avLst/>
          </a:prstGeom>
          <a:noFill/>
          <a:ln w="25400">
            <a:solidFill>
              <a:srgbClr val="2EC4B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52360" y="3657600"/>
            <a:ext cx="822960" cy="82296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52360" y="3657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040880" y="4572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321040" y="4069080"/>
            <a:ext cx="365760" cy="0"/>
          </a:xfrm>
          <a:prstGeom prst="line">
            <a:avLst/>
          </a:prstGeom>
          <a:noFill/>
          <a:ln w="25400">
            <a:solidFill>
              <a:srgbClr val="2EC4B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98280" y="3657600"/>
            <a:ext cx="822960" cy="82296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98280" y="3657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686800" y="4572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966960" y="4069080"/>
            <a:ext cx="365760" cy="0"/>
          </a:xfrm>
          <a:prstGeom prst="line">
            <a:avLst/>
          </a:prstGeom>
          <a:noFill/>
          <a:ln w="25400">
            <a:solidFill>
              <a:srgbClr val="2EC4B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744200" y="3657600"/>
            <a:ext cx="822960" cy="82296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744200" y="3657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0332720" y="4572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7DD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de prueba: sofia_buceo / admin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PROFUNDIDAD TÉCNICA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Arquitectura por capas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783080"/>
            <a:ext cx="6400800" cy="594360"/>
          </a:xfrm>
          <a:prstGeom prst="roundRect">
            <a:avLst>
              <a:gd name="adj" fmla="val 12308"/>
            </a:avLst>
          </a:prstGeom>
          <a:solidFill>
            <a:srgbClr val="62B6CB"/>
          </a:solidFill>
          <a:ln w="12700">
            <a:solidFill>
              <a:srgbClr val="62B6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78308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HTML / CSS / JavaScript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212080" y="178308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+ Authorization Bearer JWT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2377440"/>
            <a:ext cx="0" cy="118872"/>
          </a:xfrm>
          <a:prstGeom prst="line">
            <a:avLst/>
          </a:prstGeom>
          <a:noFill/>
          <a:ln w="25400">
            <a:solidFill>
              <a:srgbClr val="A0AEC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14400" y="2496312"/>
            <a:ext cx="6400800" cy="594360"/>
          </a:xfrm>
          <a:prstGeom prst="roundRect">
            <a:avLst>
              <a:gd name="adj" fmla="val 12308"/>
            </a:avLst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496312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 · JwtAuthenticationFilter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12080" y="24963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token y monta el SecurityContext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0" y="3090672"/>
            <a:ext cx="0" cy="118872"/>
          </a:xfrm>
          <a:prstGeom prst="line">
            <a:avLst/>
          </a:prstGeom>
          <a:noFill/>
          <a:ln w="25400">
            <a:solidFill>
              <a:srgbClr val="A0AEC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14400" y="3209544"/>
            <a:ext cx="6400800" cy="594360"/>
          </a:xfrm>
          <a:prstGeom prst="roundRect">
            <a:avLst>
              <a:gd name="adj" fmla="val 12308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209544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12080" y="3209544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controllers, @RestController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0" y="3803904"/>
            <a:ext cx="0" cy="118872"/>
          </a:xfrm>
          <a:prstGeom prst="line">
            <a:avLst/>
          </a:prstGeom>
          <a:noFill/>
          <a:ln w="25400">
            <a:solidFill>
              <a:srgbClr val="A0AEC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14400" y="3922776"/>
            <a:ext cx="6400800" cy="594360"/>
          </a:xfrm>
          <a:prstGeom prst="roundRect">
            <a:avLst>
              <a:gd name="adj" fmla="val 12308"/>
            </a:avLst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3922776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12080" y="39227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services, lógica de negocio + transacciones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114800" y="4517136"/>
            <a:ext cx="0" cy="118872"/>
          </a:xfrm>
          <a:prstGeom prst="line">
            <a:avLst/>
          </a:prstGeom>
          <a:noFill/>
          <a:ln w="25400">
            <a:solidFill>
              <a:srgbClr val="A0AEC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4400" y="4636008"/>
            <a:ext cx="6400800" cy="594360"/>
          </a:xfrm>
          <a:prstGeom prst="roundRect">
            <a:avLst>
              <a:gd name="adj" fmla="val 12308"/>
            </a:avLst>
          </a:prstGeom>
          <a:solidFill>
            <a:srgbClr val="1B4965"/>
          </a:solidFill>
          <a:ln w="12700">
            <a:solidFill>
              <a:srgbClr val="1B49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4636008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212080" y="4636008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repositories Spring Data JPA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14800" y="5230368"/>
            <a:ext cx="0" cy="118872"/>
          </a:xfrm>
          <a:prstGeom prst="line">
            <a:avLst/>
          </a:prstGeom>
          <a:noFill/>
          <a:ln w="25400">
            <a:solidFill>
              <a:srgbClr val="A0AEC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14400" y="5349240"/>
            <a:ext cx="6400800" cy="594360"/>
          </a:xfrm>
          <a:prstGeom prst="roundRect">
            <a:avLst>
              <a:gd name="adj" fmla="val 12308"/>
            </a:avLst>
          </a:prstGeom>
          <a:solidFill>
            <a:srgbClr val="0B1A2B"/>
          </a:solidFill>
          <a:ln w="12700">
            <a:solidFill>
              <a:srgbClr val="0B1A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534924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 InnoDB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212080" y="534924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tablas + 5 vistas + 4 procedures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955280" y="1783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externos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955280" y="224028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138160" y="22402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Checkout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955280" y="283464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138160" y="2834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REST v2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955280" y="342900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138160" y="34290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OAuth2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955280" y="402336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38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OpenWeatherMap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955280" y="46177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38160" y="46177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Render.com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 TÉCNICA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Flujo del pago paso a paso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554480"/>
            <a:ext cx="1280160" cy="365760"/>
          </a:xfrm>
          <a:prstGeom prst="roundRect">
            <a:avLst>
              <a:gd name="adj" fmla="val 12500"/>
            </a:avLst>
          </a:prstGeom>
          <a:solidFill>
            <a:srgbClr val="1B4965"/>
          </a:solidFill>
          <a:ln w="12700">
            <a:solidFill>
              <a:srgbClr val="1B496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544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71600" y="1920240"/>
            <a:ext cx="0" cy="4206240"/>
          </a:xfrm>
          <a:prstGeom prst="line">
            <a:avLst/>
          </a:prstGeom>
          <a:noFill/>
          <a:ln w="8890">
            <a:solidFill>
              <a:srgbClr val="A0AEC0">
                <a:alpha val="50000"/>
              </a:srgbClr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474720" y="1554480"/>
            <a:ext cx="1280160" cy="365760"/>
          </a:xfrm>
          <a:prstGeom prst="roundRect">
            <a:avLst>
              <a:gd name="adj" fmla="val 12500"/>
            </a:avLst>
          </a:prstGeom>
          <a:solidFill>
            <a:srgbClr val="1B4965"/>
          </a:solidFill>
          <a:ln w="12700">
            <a:solidFill>
              <a:srgbClr val="1B496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15544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0" y="1920240"/>
            <a:ext cx="0" cy="4206240"/>
          </a:xfrm>
          <a:prstGeom prst="line">
            <a:avLst/>
          </a:prstGeom>
          <a:noFill/>
          <a:ln w="8890">
            <a:solidFill>
              <a:srgbClr val="A0AEC0">
                <a:alpha val="50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6675120" y="1554480"/>
            <a:ext cx="1280160" cy="365760"/>
          </a:xfrm>
          <a:prstGeom prst="roundRect">
            <a:avLst>
              <a:gd name="adj" fmla="val 12500"/>
            </a:avLst>
          </a:prstGeom>
          <a:solidFill>
            <a:srgbClr val="1B4965"/>
          </a:solidFill>
          <a:ln w="12700">
            <a:solidFill>
              <a:srgbClr val="1B49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15544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0" y="1920240"/>
            <a:ext cx="0" cy="4206240"/>
          </a:xfrm>
          <a:prstGeom prst="line">
            <a:avLst/>
          </a:prstGeom>
          <a:noFill/>
          <a:ln w="8890">
            <a:solidFill>
              <a:srgbClr val="A0AEC0">
                <a:alpha val="50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875520" y="1554480"/>
            <a:ext cx="1280160" cy="365760"/>
          </a:xfrm>
          <a:prstGeom prst="roundRect">
            <a:avLst>
              <a:gd name="adj" fmla="val 12500"/>
            </a:avLst>
          </a:prstGeom>
          <a:solidFill>
            <a:srgbClr val="1B4965"/>
          </a:solidFill>
          <a:ln w="12700">
            <a:solidFill>
              <a:srgbClr val="1B49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0" y="15544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515600" y="1920240"/>
            <a:ext cx="0" cy="4206240"/>
          </a:xfrm>
          <a:prstGeom prst="line">
            <a:avLst/>
          </a:prstGeom>
          <a:noFill/>
          <a:ln w="8890">
            <a:solidFill>
              <a:srgbClr val="A0AEC0">
                <a:alpha val="50000"/>
              </a:srgbClr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1371600" y="1920240"/>
            <a:ext cx="2743200" cy="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371600" y="16276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click "Pagar"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114800" y="2468880"/>
            <a:ext cx="3200400" cy="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4114800" y="21762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/api/paypal/config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14800" y="3017520"/>
            <a:ext cx="3200400" cy="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  <a:headEnd type="triangle"/>
          </a:ln>
        </p:spPr>
      </p:sp>
      <p:sp>
        <p:nvSpPr>
          <p:cNvPr id="25" name="Text 23"/>
          <p:cNvSpPr/>
          <p:nvPr/>
        </p:nvSpPr>
        <p:spPr>
          <a:xfrm>
            <a:off x="4114800" y="2724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modo: demo / sandbox / live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114800" y="3566160"/>
            <a:ext cx="3200400" cy="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4114800" y="32735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/api/payments/verify/{id}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15200" y="4114800"/>
            <a:ext cx="3200400" cy="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7315200" y="382219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reserva, INSERT 2 notificaciones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0" y="4663440"/>
            <a:ext cx="3200400" cy="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  <a:headEnd type="triangle"/>
          </a:ln>
        </p:spPr>
      </p:sp>
      <p:sp>
        <p:nvSpPr>
          <p:cNvPr id="31" name="Text 29"/>
          <p:cNvSpPr/>
          <p:nvPr/>
        </p:nvSpPr>
        <p:spPr>
          <a:xfrm>
            <a:off x="7315200" y="437083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5212080"/>
            <a:ext cx="3200400" cy="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  <a:headEnd type="triangle"/>
          </a:ln>
        </p:spPr>
      </p:sp>
      <p:sp>
        <p:nvSpPr>
          <p:cNvPr id="33" name="Text 31"/>
          <p:cNvSpPr/>
          <p:nvPr/>
        </p:nvSpPr>
        <p:spPr>
          <a:xfrm>
            <a:off x="4114800" y="49194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status: PAID, demo: true }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371600" y="5760720"/>
            <a:ext cx="2743200" cy="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  <a:headEnd type="triangle"/>
          </a:ln>
        </p:spPr>
      </p:sp>
      <p:sp>
        <p:nvSpPr>
          <p:cNvPr id="35" name="Text 33"/>
          <p:cNvSpPr/>
          <p:nvPr/>
        </p:nvSpPr>
        <p:spPr>
          <a:xfrm>
            <a:off x="1371600" y="546811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 verde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Idempotencia: si la reserva ya está PAID, /verify devuelve {alreadyPaid: true} sin notificar de nuevo.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Modelo de datos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4592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88920" y="164592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2788920" y="27432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SQL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120640" y="164592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5120640" y="27432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52360" y="164592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25+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7452360" y="27432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784080" y="164592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3FN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9784080" y="27432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normalizado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474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centrales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9319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88920" y="393192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88920" y="39319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CentroBuceo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120640" y="393192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0640" y="39319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Inmersion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52360" y="393192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52360" y="39319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784080" y="393192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84080" y="39319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5720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788920" y="457200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88920" y="45720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120640" y="457200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20640" y="45720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52360" y="457200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52360" y="45720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SolicitudSeguimiento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784080" y="457200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784080" y="45720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PuntoMapa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548640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E/R completo en Mermaid + DBML para dbdiagram.io en docs/diagrams/er-diagram.md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Normalización aplicada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783080"/>
            <a:ext cx="114300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920240"/>
            <a:ext cx="914400" cy="640080"/>
          </a:xfrm>
          <a:prstGeom prst="roundRect">
            <a:avLst>
              <a:gd name="adj" fmla="val 7143"/>
            </a:avLst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2024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1FN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737360" y="1874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Atomicidad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737360" y="219456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atributos son atómicos. Las relaciones N:M se modelan con tablas puente: seguidores y publicacion_likes. No hay listas embebidas en celdas.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114300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971800"/>
            <a:ext cx="914400" cy="640080"/>
          </a:xfrm>
          <a:prstGeom prst="roundRect">
            <a:avLst>
              <a:gd name="adj" fmla="val 7143"/>
            </a:avLst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9718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2FN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737360" y="2926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dependencias parciales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737360" y="3246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únicas claves compuestas son las de tablas puente, por definición sin atributos no-clave. Cumplido.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886200"/>
            <a:ext cx="114300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23360"/>
            <a:ext cx="914400" cy="640080"/>
          </a:xfrm>
          <a:prstGeom prst="roundRect">
            <a:avLst>
              <a:gd name="adj" fmla="val 7143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023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3FN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737360" y="3977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dependencias transitivas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737360" y="42976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Cumplido con dos desnormalizaciones deliberadas y razonadas: reservas.centro_buceo_id y duplicidad usuarios.nombre_empresa con centros_buceo.nombre.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937760"/>
            <a:ext cx="114300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5074920"/>
            <a:ext cx="914400" cy="640080"/>
          </a:xfrm>
          <a:prstGeom prst="roundRect">
            <a:avLst>
              <a:gd name="adj" fmla="val 7143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7492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BCNF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37360" y="5029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Boyce-Codd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737360" y="534924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de 15 tablas. Reservas no estricta por la FK redundante a centros_buceo, decisión justificada para acelerar el dashboard de empresa.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2636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completo en docs/memoria-extra.md, capítulo D.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 tecnológico — Backend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78308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783080"/>
            <a:ext cx="3657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20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+ FRAMEWORK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33172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17 (compatible 21/25)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3.2.3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Web MVC + Data JPA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 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97680" y="178308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1783080"/>
            <a:ext cx="3657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1920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233172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 InnoDB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 ORM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jakarta.validation para DTOs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HikariCP pool de conexiones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78308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1783080"/>
            <a:ext cx="3657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0" y="1920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JWT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412480" y="233172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jjwt 0.11 (HS256)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BCryptPasswordEncoder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Client (Google opcional)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CustomUserDetailsService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06908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069080"/>
            <a:ext cx="3657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206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PASARELAS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" y="461772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Java SDK 24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REST v2 (HttpClient propio)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springdoc-openapi 2.3 (Swagger)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Webhooks (preparado)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97680" y="406908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97680" y="4069080"/>
            <a:ext cx="3657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80560" y="4206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+ TESTS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0" y="461772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3.9 + wrapper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5 + Mockito + AssertJ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Lombok 1.18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spring-boot-starter-test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138160" y="406908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38160" y="4069080"/>
            <a:ext cx="3657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4206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412480" y="461772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Jackson para JSON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WebClient (OpenWeatherMap)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SLF4J + Logback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Actuator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 tecnológico — Frontend e infraestructura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78308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783080"/>
            <a:ext cx="3657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20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33172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+ CSS3 + JavaScript ES2020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framework JS (decisión consciente)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1.9 + OpenStreetMap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Serif Display + Nunito Sans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IntersectionObserver, fetch, MutationObserver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7680" y="178308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1783080"/>
            <a:ext cx="3657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1920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Y DISEÑO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233172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style.css base + ocean-theme.css overlay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Glassmorphism + light rays + caustics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con bottom sheets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CSS (paleta + radios + sombras)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prefers-reduced-motion respetado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38160" y="178308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1783080"/>
            <a:ext cx="3657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0" y="1920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412480" y="233172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multi-stage (Alpine ~120 MB)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local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render.yaml (Render.com Blueprint)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CI/CD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gestionado en producción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406908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069080"/>
            <a:ext cx="3657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206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(PYTHON)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" y="461772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+ matplotlib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PyMySQL para conexión BD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ETL en scripts/analytics/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gráficas + dashboard CSV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97680" y="406908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97680" y="4069080"/>
            <a:ext cx="3657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80560" y="4206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0" y="461772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+ OpenAPI 3.0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Mermaid (diagramas en GitHub)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memoria 87 páginas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wireframes SVG mobile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documentos .md estructurados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138160" y="406908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38160" y="4069080"/>
            <a:ext cx="3657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4206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EXTERNOS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412480" y="461772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Checkout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REST v2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OAuth2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OpenWeatherMap</a:t>
            </a:r>
            <a:endParaRPr lang="en-US" sz="950" dirty="0"/>
          </a:p>
          <a:p>
            <a:pPr marL="342900" indent="-342900">
              <a:lnSpc>
                <a:spcPct val="120000"/>
              </a:lnSpc>
              <a:buSzPct val="100000"/>
              <a:buChar char="●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Unsplash CDN (placeholders)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Pasarela de pago — tres modos en un único flujo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7DD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detecta automáticamente la configuración del backend y se adapta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2243A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7360"/>
            <a:ext cx="1554480" cy="365760"/>
          </a:xfrm>
          <a:prstGeom prst="roundRect">
            <a:avLst>
              <a:gd name="adj" fmla="val 20000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37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DEMO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286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TFG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2788920"/>
            <a:ext cx="3291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BEE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credenciales configuradas. La pestaña Tarjeta valida con Luhn local y marca PAID directamente.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617720"/>
            <a:ext cx="3291840" cy="0"/>
          </a:xfrm>
          <a:prstGeom prst="line">
            <a:avLst/>
          </a:prstGeom>
          <a:noFill/>
          <a:ln w="12700">
            <a:solidFill>
              <a:srgbClr val="2EC4B6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709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498348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93C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presentaciones, desarrollo y CI sin secretos.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89120" y="155448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2243A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0" y="1737360"/>
            <a:ext cx="1554480" cy="365760"/>
          </a:xfrm>
          <a:prstGeom prst="roundRect">
            <a:avLst>
              <a:gd name="adj" fmla="val 20000"/>
            </a:avLst>
          </a:prstGeom>
          <a:solidFill>
            <a:srgbClr val="62B6CB"/>
          </a:solidFill>
          <a:ln w="12700">
            <a:solidFill>
              <a:srgbClr val="62B6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1737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0" y="2286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72000" y="2788920"/>
            <a:ext cx="3291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BEE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sandbox real (api-m.sandbox.paypal.com) y/o Stripe test keys. Tarjetas de prueba contra los entornos reales.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0" y="4617720"/>
            <a:ext cx="3291840" cy="0"/>
          </a:xfrm>
          <a:prstGeom prst="line">
            <a:avLst/>
          </a:prstGeom>
          <a:noFill/>
          <a:ln w="12700">
            <a:solidFill>
              <a:srgbClr val="2EC4B6">
                <a:alpha val="5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4709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0" y="498348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93C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end-to-end de la integración.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321040" y="155448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2243A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1737360"/>
            <a:ext cx="1554480" cy="365760"/>
          </a:xfrm>
          <a:prstGeom prst="roundRect">
            <a:avLst>
              <a:gd name="adj" fmla="val 20000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0" y="1737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503920" y="2286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503920" y="2788920"/>
            <a:ext cx="3291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BEE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 reales (PAYPAL_CLIENT_ID + STRIPE_SECRET_KEY). Cobros reales con el mismo código.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503920" y="4617720"/>
            <a:ext cx="3291840" cy="0"/>
          </a:xfrm>
          <a:prstGeom prst="line">
            <a:avLst/>
          </a:prstGeom>
          <a:noFill/>
          <a:ln w="12700">
            <a:solidFill>
              <a:srgbClr val="2EC4B6">
                <a:alpha val="5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03920" y="4709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503920" y="498348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93C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Producción. Sólo cambian variables de entorno.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7DD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código fuente para los tres modos. Cero acoplamiento al modo en el frontend.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PASARELA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PaymentController · idempotencia y notificaciones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73152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0B1A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ResponseEntity&lt;Map&lt;String,Object&gt;&gt; verificar(@PathVariable Long reservaId) {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Reserva reserva = reservaRepository.findById(reservaId).orElseThrow(...);
</a:t>
            </a:r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1. Idempotencia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("PAID".equalsIgnoreCase(reserva.getPaymentStatus())) {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ResponseEntity.ok(Map.of("status","PAID","alreadyPaid",true));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
</a:t>
            </a:r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2. Stripe real con sessionId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(stripeService.isEnabled() &amp;&amp; reserva.getStripeSessionId() != null) {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Session session = stripeService.retrieveSession(...);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("paid".equals(session.getPaymentStatus()))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confirmarPago(reserva, session.getPaymentIntent(), "Stripe");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ResponseEntity.ok(...);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
</a:t>
            </a:r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3. Demo TFG fallback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confirmarPago(reserva, null, "Demo");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ResponseEntity.ok(Map.of("status","PAID","demo",true));
</a:t>
            </a:r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0B1A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955280" y="1783080"/>
            <a:ext cx="3931920" cy="4114800"/>
          </a:xfrm>
          <a:prstGeom prst="roundRect">
            <a:avLst>
              <a:gd name="adj" fmla="val 2326"/>
            </a:avLst>
          </a:prstGeom>
          <a:solidFill>
            <a:srgbClr val="F5F0EA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3816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confirmarPago()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138160" y="2286000"/>
            <a:ext cx="36576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UPDATE reserva
   payment_status = PAID
   estado = CONFIRMADA
</a:t>
            </a:r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INSERT notificacion
   destinatario: usuario
   tipo: RESERVA_CONFIRMADA
</a:t>
            </a:r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INSERT notificacion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destinatario: centro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tipo: RESERVA_RECIBIDA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603504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caminos, una sola función privada confirmarPago(). Garantiza consistencia en cualquier modo.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Seguridad · JWT stateless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basada en JWT firmado con HS256. El cliente envía el token en cada petición, el filtro lo valida y monta el SecurityContext. Sin sesiones servidor.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7889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Login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envía username + password.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UserDetailsService los valida con BCrypt.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JwtUtil.generateToken() firma con HS256.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Devuelve { token, tipo: "Bearer", usuario }.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guarda en localStorage.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89120" y="269748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27889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Petición protegida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310896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añade header: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Authorization: Bearer &lt;jwt&gt;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JwtAuthenticationFilter intercepta.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firma + expiración (24h).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 username del subject.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 Authentication en SecurityContext.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321040" y="269748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27889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Autorización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03920" y="310896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 comprueba reglas: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Catálogo: público.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/api/admin/**: ROLE_ADMIN.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/api/inmersiones POST: empresa propietaria.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Resto: autenticado.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Matchers explícitos en SecurityConfig.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12648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HS256 con secret de 64+ caracteres en variable de entorno. Expiración 24h. Sin refresh tokens en v1.0.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 EN PROFUNDIDAD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Seguridad · OAuth2, uploads y otros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74520"/>
            <a:ext cx="502920" cy="50292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para contraseñas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21031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factor 10 (~80 ms por hash). Salt incluido. Las contraseñas en plano nunca se loguean ni se serializan al cliente.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743200"/>
            <a:ext cx="502920" cy="50292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2651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Google opcional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80160" y="29718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Activable con flag GOOGLE_OAUTH_ENABLED. Flujo redirect → callback → GoogleOAuth2SuccessHandler crea/actualiza Usuario y emite JWT. Mismo token que login normal.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502920" cy="50292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611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80160" y="3520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uploads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80160" y="38404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MIME debe empezar por image/ o video/. Lista blanca de extensiones (jpg, png, webp, mp4, etc). Nombre UUID generado servidor — el cliente no controla el filename. 5 tests cubren los caminos.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43891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y CORS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80160" y="47091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X-Content-Type-Options, X-Frame-Options activos por defecto Spring. CSRF deshabilitado (es API JSON). CORS restrictivo en producción al dominio del frontend.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349240"/>
            <a:ext cx="502920" cy="50292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349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80160" y="52578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GlobalExceptionHandler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80160" y="55778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Traduce excepciones a JSON {status, message, timestamp}. BadRequestException → 400, ResourceNotFoundException → 404, UnauthorizedException → 401.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TÉCNICA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 · sin framework, justificado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consciente: HTML + CSS + JavaScript vanilla. Sin React, ni Vue, ni bundler.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54864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560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Razones para decidirlo así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51206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Demuestra dominio de DOM, eventos y CSS modernos sin abstracciones.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Bundle final: &lt; 50 KB CSS+JS combinados.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Auditoría trivial: cualquier evaluador puede leer el código sin entender un framework.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Feedback loop instantáneo: editar y recargar.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Cero dependencias en CDNs salvo Leaflet 1.9 para el mapa.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 API REST está completamente desacoplada — migrar a React sería trivial.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63640" y="2468880"/>
            <a:ext cx="54864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560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aceptados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46520" y="2926080"/>
            <a:ext cx="51206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Repetición de markup entre páginas.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 TypeScript (riesgo de runtime errors mitigado con tests JUnit en backend).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 gestión de estado declarativa (uso localStorage + closures en JS modules).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 SEO es server-side automático, no Next.js style.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62636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módulos JS: api, auth, nav, payment, publicaciones, ocean-effects, animations.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Tema submarino y responsive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7DD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ocean-theme.css + ocean-effects.js · capa overlay sobre style.css base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12243A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828800"/>
            <a:ext cx="45720" cy="1920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659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Glassmorphism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33172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BEE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Tarjetas semi-transparentes con backdrop-filter blur 18px y saturación 160%.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182880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12243A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828800"/>
            <a:ext cx="45720" cy="1920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9659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subacuático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0" y="233172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BEE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Gradiente vertical cream a aqua + tres caustics radiales animadas + light rays oblicuos.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321040" y="182880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12243A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1828800"/>
            <a:ext cx="45720" cy="1920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0" y="19659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Burbujas animadas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03920" y="233172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BEE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14-28 burbujas con CSS keyframes (sin JS RAF). Tamaño y duración aleatorios.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12243A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931920"/>
            <a:ext cx="45720" cy="1920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0690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sheets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443484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BEE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Modales que surgen desde abajo con animación spring en mobile (max-width: 720px).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89120" y="393192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12243A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89120" y="3931920"/>
            <a:ext cx="45720" cy="1920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0" y="40690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0" y="443484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BEE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viewport-fit=cover, safe-area-inset, inputs 44px, font-size 16px (anti-zoom iOS).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321040" y="393192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12243A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1040" y="3931920"/>
            <a:ext cx="45720" cy="1920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03920" y="40690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motion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503920" y="443484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BEE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prefers-reduced-motion respetado: las burbujas no se inyectan y las animaciones se desactivan.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Subida de archivos · multipart con validación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828800"/>
            <a:ext cx="21031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965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Móvil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23317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capture="environment"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accept="image/*,video/*"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606040" y="2377440"/>
            <a:ext cx="137160" cy="274320"/>
          </a:xfrm>
          <a:prstGeom prst="rightArrow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0" y="1828800"/>
            <a:ext cx="21031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1965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/api/uploads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880360" y="23317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multipart/form-data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FormData en JS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92040" y="2377440"/>
            <a:ext cx="137160" cy="274320"/>
          </a:xfrm>
          <a:prstGeom prst="rightArrow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0" y="1828800"/>
            <a:ext cx="21031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0" y="1965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23317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MIME + extensión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lista blanca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178040" y="2377440"/>
            <a:ext cx="137160" cy="274320"/>
          </a:xfrm>
          <a:prstGeom prst="rightArrow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0" y="1828800"/>
            <a:ext cx="21031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0" y="1965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52360" y="23317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UUID.png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 path traversal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464040" y="2377440"/>
            <a:ext cx="137160" cy="274320"/>
          </a:xfrm>
          <a:prstGeom prst="rightArrow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01200" y="1828800"/>
            <a:ext cx="21031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0" y="1965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pública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738360" y="23317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/uploads/abc.png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handler 1h cache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3520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usos del mismo endpoint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397764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5F0EA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690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" y="44348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 → Crear → Nueva publicación → "Elegir de galería". Preview local instantáneo, upload paralelo. La URL viaja en el JSON al crear.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89120" y="397764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5F0EA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0" y="40690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24h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0" y="44348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sheet "Tu historia 24h". Mismo file picker. media_type detectado automáticamente (FOTO o VIDEO).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21040" y="397764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5F0EA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0" y="40690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de perfil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503920" y="44348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perfil. Atributo capture="user" abre la cámara frontal en móvil. Preview circular 96px.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Calidad · 31 tests JUnit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7DD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sobre los servicios y controllers críticos. Cero fallos.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4572000" cy="4114800"/>
          </a:xfrm>
          <a:prstGeom prst="roundRect">
            <a:avLst>
              <a:gd name="adj" fmla="val 4444"/>
            </a:avLst>
          </a:prstGeom>
          <a:solidFill>
            <a:srgbClr val="12243A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2880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</a:t>
            </a:r>
            <a:endParaRPr lang="en-US" sz="13000" dirty="0"/>
          </a:p>
        </p:txBody>
      </p:sp>
      <p:sp>
        <p:nvSpPr>
          <p:cNvPr id="9" name="Text 7"/>
          <p:cNvSpPr/>
          <p:nvPr/>
        </p:nvSpPr>
        <p:spPr>
          <a:xfrm>
            <a:off x="457200" y="39319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JUnit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EE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clases · 0 fallos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5029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DDD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JUnit 5 + Mockito + AssertJ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0" y="16459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por clase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0" y="2359152"/>
            <a:ext cx="18288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0" y="2194560"/>
            <a:ext cx="6126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ReservaService</a:t>
            </a:r>
            <a:pPr indent="0" marL="0">
              <a:buNone/>
            </a:pPr>
            <a:r>
              <a:rPr lang="en-US" sz="11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(5 tests)
</a:t>
            </a:r>
            <a:pPr indent="0" marL="0">
              <a:buNone/>
            </a:pPr>
            <a:r>
              <a:rPr lang="en-US" sz="1000" i="1" dirty="0">
                <a:solidFill>
                  <a:srgbClr val="A7DD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caminos felices y errores controlados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2953512"/>
            <a:ext cx="18288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0720" y="2788920"/>
            <a:ext cx="6126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PayPalService</a:t>
            </a:r>
            <a:pPr indent="0" marL="0">
              <a:buNone/>
            </a:pPr>
            <a:r>
              <a:rPr lang="en-US" sz="11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(8 tests)
</a:t>
            </a:r>
            <a:pPr indent="0" marL="0">
              <a:buNone/>
            </a:pPr>
            <a:r>
              <a:rPr lang="en-US" sz="1000" i="1" dirty="0">
                <a:solidFill>
                  <a:srgbClr val="A7DD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config, modos sandbox/live, token, getBaseUrl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0" y="3547872"/>
            <a:ext cx="18288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3383280"/>
            <a:ext cx="6126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StripeService</a:t>
            </a:r>
            <a:pPr indent="0" marL="0">
              <a:buNone/>
            </a:pPr>
            <a:r>
              <a:rPr lang="en-US" sz="11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(5 tests)
</a:t>
            </a:r>
            <a:pPr indent="0" marL="0">
              <a:buNone/>
            </a:pPr>
            <a:r>
              <a:rPr lang="en-US" sz="1000" i="1" dirty="0">
                <a:solidFill>
                  <a:srgbClr val="A7DD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isEnabled, getPublishableKey, createCheckoutSession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0" y="4142232"/>
            <a:ext cx="18288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0" y="3977640"/>
            <a:ext cx="6126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UploadController</a:t>
            </a:r>
            <a:pPr indent="0" marL="0">
              <a:buNone/>
            </a:pPr>
            <a:r>
              <a:rPr lang="en-US" sz="11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(5 tests)
</a:t>
            </a:r>
            <a:pPr indent="0" marL="0">
              <a:buNone/>
            </a:pPr>
            <a:r>
              <a:rPr lang="en-US" sz="1000" i="1" dirty="0">
                <a:solidFill>
                  <a:srgbClr val="A7DD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MIME, extensión, UUID, video/foto, BadRequest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0" y="4736592"/>
            <a:ext cx="18288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0" y="4572000"/>
            <a:ext cx="6126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EmojiStripMigration</a:t>
            </a:r>
            <a:pPr indent="0" marL="0">
              <a:buNone/>
            </a:pPr>
            <a:r>
              <a:rPr lang="en-US" sz="11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(8 tests)
</a:t>
            </a:r>
            <a:pPr indent="0" marL="0">
              <a:buNone/>
            </a:pPr>
            <a:r>
              <a:rPr lang="en-US" sz="1000" i="1" dirty="0">
                <a:solidFill>
                  <a:srgbClr val="A7DD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rangos Unicode + edge cases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0" y="57607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en vivo: ./mvnw test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Integración continua · GitHub Actions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push a master se ejecuta automáticamente este pipeline: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457200" cy="45720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423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23774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0" y="2377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actions/checkout@v4 sobre la rama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971800"/>
            <a:ext cx="457200" cy="45720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80160" y="29260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JDK 17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0" y="29260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actions/setup-java@v4 con cache de Maven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520440"/>
            <a:ext cx="457200" cy="45720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80160" y="34747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0" y="34747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./mvnw -B -q compile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069080"/>
            <a:ext cx="457200" cy="45720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80160" y="4023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0" y="40233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./mvnw test con MySQL service container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617720"/>
            <a:ext cx="457200" cy="45720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17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80160" y="45720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Empaquetar JAR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0" y="45720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./mvnw package -DskipTests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166360"/>
            <a:ext cx="457200" cy="45720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280160" y="51206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Docker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0" y="51206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Sólo en master, con cache de capas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5715000"/>
            <a:ext cx="457200" cy="45720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715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280160" y="5669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artefactos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0" y="5669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JAR + Surefire reports a GitHub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redeploya automáticamente al ver el JAR construido. El badge de la build vive en el README.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Despliegue · tres caminos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78308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783080"/>
            <a:ext cx="36576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659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sin Docker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697480"/>
            <a:ext cx="3291840" cy="640080"/>
          </a:xfrm>
          <a:prstGeom prst="rect">
            <a:avLst/>
          </a:prstGeom>
          <a:solidFill>
            <a:srgbClr val="0B1A2B"/>
          </a:solidFill>
          <a:ln w="12700">
            <a:solidFill>
              <a:srgbClr val="0B1A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432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./mvnw spring-boot:run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5204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Rápido feedback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977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Hot reload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4434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Sin overhead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178308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1783080"/>
            <a:ext cx="36576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0" y="19659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 aislado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0" y="2697480"/>
            <a:ext cx="3291840" cy="640080"/>
          </a:xfrm>
          <a:prstGeom prst="rect">
            <a:avLst/>
          </a:prstGeom>
          <a:solidFill>
            <a:srgbClr val="0B1A2B"/>
          </a:solidFill>
          <a:ln w="12700">
            <a:solidFill>
              <a:srgbClr val="0B1A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27432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compose up --build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63440" y="35204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MySQL en contenedor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63440" y="3977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Reproducible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63440" y="4434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Sin instalar nada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21040" y="178308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21040" y="1783080"/>
            <a:ext cx="36576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03920" y="19659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Render.com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50392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503920" y="2697480"/>
            <a:ext cx="3291840" cy="640080"/>
          </a:xfrm>
          <a:prstGeom prst="rect">
            <a:avLst/>
          </a:prstGeom>
          <a:solidFill>
            <a:srgbClr val="0B1A2B"/>
          </a:solidFill>
          <a:ln w="12700">
            <a:solidFill>
              <a:srgbClr val="0B1A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95360" y="27432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render.yaml detectado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95360" y="35204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SSL Let's Encrypt automático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595360" y="3977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Auto-deploy en push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595360" y="4434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BD MySQL gestionada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62636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Docker final: ~120 MB (eclipse-temurin:17-jre-alpine + JAR).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 DE LA INFRAESTRUCTURA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qué Render.com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fue mi elección sobre VPS clásico, AWS y Heroku. Las razones: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31720"/>
            <a:ext cx="45720" cy="16916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4688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free real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 CPU + 512 MB RAM permanentes. Suficiente para una demo de TFG. AWS Free Tier expira a los 12 meses.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89120" y="233172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2331720"/>
            <a:ext cx="45720" cy="16916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24688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SSL automático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0" y="28346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Encrypt configurado solo. Cero certbot, cero renovaciones manuales.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21040" y="233172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2331720"/>
            <a:ext cx="45720" cy="16916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4688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 declarativo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503920" y="28346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render.yaml en el repo: el servicio web, la BD MySQL gestionada y las env vars todo en un fichero versionable.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16052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4160520"/>
            <a:ext cx="45720" cy="16916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2976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Auto-deploy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6634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master → build de imagen Docker → deploy. Sin GitHub Actions custom para eso.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0" y="416052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9120" y="4160520"/>
            <a:ext cx="45720" cy="16916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0" y="42976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gestionada en red interna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0" y="46634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accesible solo desde el servicio web, sin exposición pública. Backups automáticos diarios.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321040" y="416052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21040" y="4160520"/>
            <a:ext cx="45720" cy="16916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0" y="42976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Domino gratis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503920" y="46634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diveconnect-XXXX.onrender.com. Cambiable a dominio propio con un DNS CNAME cuando se quiera.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OPTATIVO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de datos · Python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ETL en Python que se conecta a la BD del proyecto principal y genera analítica visual sin tocar el backend Java.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74320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346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324612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PyMySQL → 5 datasets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3337560"/>
            <a:ext cx="182880" cy="182880"/>
          </a:xfrm>
          <a:prstGeom prst="rightArrow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0" y="274320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28346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11880" y="324612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pandas: groupby, sort, agg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3337560"/>
            <a:ext cx="182880" cy="182880"/>
          </a:xfrm>
          <a:prstGeom prst="rightArrow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274320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8346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324612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 con paleta corporativa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915400" y="3337560"/>
            <a:ext cx="182880" cy="182880"/>
          </a:xfrm>
          <a:prstGeom prst="rightArrow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0" y="274320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28346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281160" y="324612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PNG + dashboard.csv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calculadas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84632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F5F0EA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8463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Publicaciones por mes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89120" y="484632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F5F0EA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0" y="48463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Reservas por estado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321040" y="484632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F5F0EA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03920" y="48463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Top 5 inmersiones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539496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F5F0EA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3949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Especies más mencionadas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89120" y="539496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F5F0EA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0" y="53949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Profundidad media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321040" y="539496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F5F0EA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03920" y="53949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Ingresos confirmados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60350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scripts/analytics/analytics.py · 302 líneas · idempotente · paleta coherente con la del frontend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Sostenibilidad y digitalización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0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74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 Desarrollo Sostenible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286000"/>
            <a:ext cx="594360" cy="548640"/>
          </a:xfrm>
          <a:prstGeom prst="roundRect">
            <a:avLst>
              <a:gd name="adj" fmla="val 8333"/>
            </a:avLst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286000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224028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Vida submarina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560320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social sobre biodiversidad marina, fomenta observación informada.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200400"/>
            <a:ext cx="594360" cy="548640"/>
          </a:xfrm>
          <a:prstGeom prst="roundRect">
            <a:avLst>
              <a:gd name="adj" fmla="val 8333"/>
            </a:avLst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200400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315468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 e innovación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3474720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 un sector tradicionalmente analógico.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594360" cy="548640"/>
          </a:xfrm>
          <a:prstGeom prst="roundRect">
            <a:avLst>
              <a:gd name="adj" fmla="val 8333"/>
            </a:avLst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114800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406908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decente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4389120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Comisión 3-5 % vs 15-25 % de las plataformas equivalentes.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5029200"/>
            <a:ext cx="594360" cy="548640"/>
          </a:xfrm>
          <a:prstGeom prst="roundRect">
            <a:avLst>
              <a:gd name="adj" fmla="val 8333"/>
            </a:avLst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029200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98348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por el clima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5303520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consume mínimo, frontend sin framework reduce huella cliente.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63640" y="1783080"/>
            <a:ext cx="548640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25400">
            <a:solidFill>
              <a:srgbClr val="F5A6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46520" y="1874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Code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46520" y="2286000"/>
            <a:ext cx="51206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Haversine en SQL en lugar de Java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Paginación obligatoria en /publicaciones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 vistas SQL precomputadas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Índices secundarios sobre queries calientes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Caché HTTP de 1h en /uploads/**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CSS keyframes (no JS RAF) para burbujas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prefers-reduced-motion respetado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Compresión gzip por defecto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Imagen Docker Alpine ~120 MB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JVM con -Xmx450m + G1GC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2636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Huella estimada: ~0.75 g CO2/mes con 1.000 visitantes. Detalles en docs/memoria-extra.md, capítulo B.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DEL DESARROLLO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Decisión técnica · @Data + Set en JPA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0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25400">
            <a:solidFill>
              <a:srgbClr val="FF6B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74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286000"/>
            <a:ext cx="51206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aceptar una solicitud de seguimiento, el endpoint /api/seguimiento/estado seguía devolviendo NO_SIGUE aunque la fila estaba en BD. Set.contains() daba comportamiento no determinista, y a veces caía en StackOverflowError.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100 % en el flujo solicitar → aceptar → consultar.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1783080"/>
            <a:ext cx="548640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874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y solución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46520" y="2286000"/>
            <a:ext cx="51206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Lombok @Data genera equals/hashCode cubriendo TODOS los campos, incluidas las colecciones seguidores y siguiendo. Como Set.contains() usa hashCode(), y el hash necesita el hash de las colecciones, y las colecciones contienen la propia entidad… recursión.
</a:t>
            </a:r>
            <a:pPr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Solución: SQL nativo en UsuarioRepository
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addSeguidor, removeSeguidor, countSeguimiento, existsSeguimiento.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SeguimientoService usa estos métodos en lugar de getSiguiendo().contains(...).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alternativa ortodoxa habría sido @EqualsAndHashCode(of="id") en 15 entidades. Riesgo de regresiones.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Métricas reales del proyecto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783080"/>
            <a:ext cx="26974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783080"/>
            <a:ext cx="54864" cy="128016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87452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48640" y="256032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37560" y="1783080"/>
            <a:ext cx="26974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1783080"/>
            <a:ext cx="54864" cy="1280160"/>
          </a:xfrm>
          <a:prstGeom prst="rect">
            <a:avLst/>
          </a:prstGeom>
          <a:solidFill>
            <a:srgbClr val="1B4965"/>
          </a:solidFill>
          <a:ln w="12700">
            <a:solidFill>
              <a:srgbClr val="1B49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187452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496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429000" y="256032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783080"/>
            <a:ext cx="26974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1783080"/>
            <a:ext cx="54864" cy="12801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187452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309360" y="256032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98280" y="1783080"/>
            <a:ext cx="26974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98280" y="1783080"/>
            <a:ext cx="54864" cy="128016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89720" y="187452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9189720" y="256032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200400"/>
            <a:ext cx="26974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200400"/>
            <a:ext cx="54864" cy="128016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329184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548640" y="39776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337560" y="3200400"/>
            <a:ext cx="26974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37560" y="3200400"/>
            <a:ext cx="54864" cy="1280160"/>
          </a:xfrm>
          <a:prstGeom prst="rect">
            <a:avLst/>
          </a:prstGeom>
          <a:solidFill>
            <a:srgbClr val="1B4965"/>
          </a:solidFill>
          <a:ln w="12700">
            <a:solidFill>
              <a:srgbClr val="1B496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29000" y="329184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496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3429000" y="39776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3200400"/>
            <a:ext cx="26974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0" y="3200400"/>
            <a:ext cx="54864" cy="12801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0" y="329184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6309360" y="39776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098280" y="3200400"/>
            <a:ext cx="26974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98280" y="3200400"/>
            <a:ext cx="54864" cy="128016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89720" y="329184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600" dirty="0"/>
          </a:p>
        </p:txBody>
      </p:sp>
      <p:sp>
        <p:nvSpPr>
          <p:cNvPr id="39" name="Text 37"/>
          <p:cNvSpPr/>
          <p:nvPr/>
        </p:nvSpPr>
        <p:spPr>
          <a:xfrm>
            <a:off x="9189720" y="39776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4617720"/>
            <a:ext cx="26974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4617720"/>
            <a:ext cx="54864" cy="128016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47091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43" name="Text 41"/>
          <p:cNvSpPr/>
          <p:nvPr/>
        </p:nvSpPr>
        <p:spPr>
          <a:xfrm>
            <a:off x="548640" y="539496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almacenados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337560" y="4617720"/>
            <a:ext cx="26974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37560" y="4617720"/>
            <a:ext cx="54864" cy="1280160"/>
          </a:xfrm>
          <a:prstGeom prst="rect">
            <a:avLst/>
          </a:prstGeom>
          <a:solidFill>
            <a:srgbClr val="1B4965"/>
          </a:solidFill>
          <a:ln w="12700">
            <a:solidFill>
              <a:srgbClr val="1B496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29000" y="47091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496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</a:t>
            </a:r>
            <a:endParaRPr lang="en-US" sz="3600" dirty="0"/>
          </a:p>
        </p:txBody>
      </p:sp>
      <p:sp>
        <p:nvSpPr>
          <p:cNvPr id="47" name="Text 45"/>
          <p:cNvSpPr/>
          <p:nvPr/>
        </p:nvSpPr>
        <p:spPr>
          <a:xfrm>
            <a:off x="3429000" y="539496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(0 fallos)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217920" y="4617720"/>
            <a:ext cx="26974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17920" y="4617720"/>
            <a:ext cx="54864" cy="12801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9360" y="47091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</a:t>
            </a:r>
            <a:endParaRPr lang="en-US" sz="3600" dirty="0"/>
          </a:p>
        </p:txBody>
      </p:sp>
      <p:sp>
        <p:nvSpPr>
          <p:cNvPr id="51" name="Text 49"/>
          <p:cNvSpPr/>
          <p:nvPr/>
        </p:nvSpPr>
        <p:spPr>
          <a:xfrm>
            <a:off x="6309360" y="539496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memoria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098280" y="4617720"/>
            <a:ext cx="26974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098280" y="4617720"/>
            <a:ext cx="54864" cy="128016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189720" y="47091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</a:t>
            </a:r>
            <a:endParaRPr lang="en-US" sz="3600" dirty="0"/>
          </a:p>
        </p:txBody>
      </p:sp>
      <p:sp>
        <p:nvSpPr>
          <p:cNvPr id="55" name="Text 53"/>
          <p:cNvSpPr/>
          <p:nvPr/>
        </p:nvSpPr>
        <p:spPr>
          <a:xfrm>
            <a:off x="9189720" y="539496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62636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número es verificable directamente en el repositorio público de GitHub.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817352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DiveConnect · TFG 2º DAW · 2025/26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PRÓXIMAS ITERACIONES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3716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78308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783080"/>
            <a:ext cx="3657600" cy="36576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830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— MVP entrega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606040"/>
            <a:ext cx="18288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42316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social y marketplace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18288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2004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Pasarela 3 modos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18288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9776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interactivo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18288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75488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Subida desde galería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5715000"/>
            <a:ext cx="18288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53212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con SSL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89120" y="178308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89120" y="1783080"/>
            <a:ext cx="3657600" cy="365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17830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 — Calidad operativa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0" y="2606040"/>
            <a:ext cx="18288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242316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Migrar uploads a S3 / R2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0" y="3383280"/>
            <a:ext cx="18288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32004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Skip-to-content link a11y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0" y="4160520"/>
            <a:ext cx="18288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39776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E2E con Playwright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0" y="4937760"/>
            <a:ext cx="18288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475488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purga historias 24h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321040" y="178308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8E3D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21040" y="1783080"/>
            <a:ext cx="3657600" cy="365760"/>
          </a:xfrm>
          <a:prstGeom prst="rect">
            <a:avLst/>
          </a:prstGeom>
          <a:solidFill>
            <a:srgbClr val="1B4965"/>
          </a:solidFill>
          <a:ln w="12700">
            <a:solidFill>
              <a:srgbClr val="1B49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03920" y="17830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v2.0 — Escalado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503920" y="2606040"/>
            <a:ext cx="182880" cy="0"/>
          </a:xfrm>
          <a:prstGeom prst="line">
            <a:avLst/>
          </a:prstGeom>
          <a:noFill/>
          <a:ln w="25400">
            <a:solidFill>
              <a:srgbClr val="1B496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778240" y="242316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tokens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503920" y="3383280"/>
            <a:ext cx="182880" cy="0"/>
          </a:xfrm>
          <a:prstGeom prst="line">
            <a:avLst/>
          </a:prstGeom>
          <a:noFill/>
          <a:ln w="25400">
            <a:solidFill>
              <a:srgbClr val="1B496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778240" y="32004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WebSockets para notificaciones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503920" y="4160520"/>
            <a:ext cx="182880" cy="0"/>
          </a:xfrm>
          <a:prstGeom prst="line">
            <a:avLst/>
          </a:prstGeom>
          <a:noFill/>
          <a:ln w="25400">
            <a:solidFill>
              <a:srgbClr val="1B496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78240" y="39776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i18n (en, pt, fr)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503920" y="4937760"/>
            <a:ext cx="182880" cy="0"/>
          </a:xfrm>
          <a:prstGeom prst="line">
            <a:avLst/>
          </a:prstGeom>
          <a:noFill/>
          <a:ln w="25400">
            <a:solidFill>
              <a:srgbClr val="1B496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778240" y="475488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Recomendador con análisis Python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62636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completa de issues abiertas en github.com/mmordoe685/diveconnect/issues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2EC4B6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36592"/>
            <a:ext cx="12188952" cy="0"/>
          </a:xfrm>
          <a:prstGeom prst="line">
            <a:avLst/>
          </a:prstGeom>
          <a:noFill/>
          <a:ln w="6350">
            <a:solidFill>
              <a:srgbClr val="2EC4B6">
                <a:alpha val="4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901184"/>
            <a:ext cx="12188952" cy="0"/>
          </a:xfrm>
          <a:prstGeom prst="line">
            <a:avLst/>
          </a:prstGeom>
          <a:noFill/>
          <a:ln w="6350">
            <a:solidFill>
              <a:srgbClr val="2EC4B6">
                <a:alpha val="5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5065776"/>
            <a:ext cx="12188952" cy="0"/>
          </a:xfrm>
          <a:prstGeom prst="line">
            <a:avLst/>
          </a:prstGeom>
          <a:noFill/>
          <a:ln w="6350">
            <a:solidFill>
              <a:srgbClr val="2EC4B6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230368"/>
            <a:ext cx="12188952" cy="0"/>
          </a:xfrm>
          <a:prstGeom prst="line">
            <a:avLst/>
          </a:prstGeom>
          <a:noFill/>
          <a:ln w="6350">
            <a:solidFill>
              <a:srgbClr val="2EC4B6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394960"/>
            <a:ext cx="12188952" cy="0"/>
          </a:xfrm>
          <a:prstGeom prst="line">
            <a:avLst/>
          </a:prstGeom>
          <a:noFill/>
          <a:ln w="6350">
            <a:solidFill>
              <a:srgbClr val="2EC4B6">
                <a:alpha val="8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2801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Gracias.</a:t>
            </a:r>
            <a:endParaRPr lang="en-US" sz="96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36576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926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¿Preguntas?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57200" y="384048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Marcos Mordoñez Estévez
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BEE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github.com/mmordoe685/diveconnect
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BEE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mmordoe685@g.educaand.es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DiveConnect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DD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Fin de Grado · CFGS DAW · Curso 2025/26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DiveConnect — Defensa TFG</dc:title>
  <dc:subject>PIDAWE 2º DAW · Curso 2025/26</dc:subject>
  <dc:creator>Marcos Mordoñez Estévez</dc:creator>
  <cp:lastModifiedBy>Marcos Mordoñez Estévez</cp:lastModifiedBy>
  <cp:revision>1</cp:revision>
  <dcterms:created xsi:type="dcterms:W3CDTF">2026-05-07T21:23:12Z</dcterms:created>
  <dcterms:modified xsi:type="dcterms:W3CDTF">2026-05-07T21:23:12Z</dcterms:modified>
</cp:coreProperties>
</file>