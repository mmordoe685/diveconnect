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86384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50976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1280160" cy="0"/>
          </a:xfrm>
          <a:prstGeom prst="line">
            <a:avLst/>
          </a:prstGeom>
          <a:noFill/>
          <a:ln w="635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25880"/>
            <a:ext cx="1280160" cy="0"/>
          </a:xfrm>
          <a:prstGeom prst="line">
            <a:avLst/>
          </a:prstGeom>
          <a:noFill/>
          <a:ln w="635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DiveConnect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y plataforma de reservas para la comunidad submarinista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36576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· CFGS DAW
</a:t>
            </a:r>
            <a:pPr indent="0" marL="0">
              <a:buNone/>
            </a:pPr>
            <a:r>
              <a:rPr lang="en-US" sz="12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2025/26 · Defensa ante tribunal docente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Mordoñez Estévez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3.2 · MySQL · HTML / CSS / JS · Stripe · PayPal · 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y motivación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
</a:t>
            </a:r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une dos productos en uno: 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vertical para buceadores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(publicaciones con datos técnicos, historias 24h, mapa) y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centros de buceo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(catálogo, reservas, pago en línea).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de un sector real fragmentado: WhatsApp + email + transferencia.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M€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buceo en España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0" y="13716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3268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Buceadores activos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sin web propia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2688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integrados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en 2º DAW. Mi optativa es Programación en Python y Análisis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3566160" cy="54864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356616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Reservas analógicas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centros gestionan plazas por correo electrónico, WhatsApp y llamada. Cobran por transferencia o en mostrador. Sin trazabilidad y con fricción para el usuario final.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554480"/>
            <a:ext cx="3566160" cy="54864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874520"/>
            <a:ext cx="356616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Comunidad fragmentada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286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social está dispersa entre Facebook, foros antiguos e Instagram, sin filtros por nivel, profundidad o ubicación que aprovechen los datos técnicos del buceo.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5544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554480"/>
            <a:ext cx="3566160" cy="548640"/>
          </a:xfrm>
          <a:prstGeom prst="roundRect">
            <a:avLst>
              <a:gd name="adj" fmla="val 25000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874520"/>
            <a:ext cx="3566160" cy="2286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Diario en papel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2286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 book de cada buceador sigue siendo un cuaderno físico o un export aislado del ordenador de buceo. Sin sincronización social ni descubrimiento.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plataforma, tres ejes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valor de DiveConnect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82296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inmersiones filtrable por nivel, profundidad y precio.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con descuento automático de plazas, cancelación, pago seguro vía Stripe Checkout o PayPal.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gestiona todo desde su panel.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82296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cronológico con publicaciones de datos técnicos: lugar, profundidad, temperatura, visibilidad, especies vistas.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24h efímeras. Sistema de seguimiento con solicitudes y notificaciones.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puntos georreferenciados.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82296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digital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publicación con datos técnicos sirve también de log book.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del buceador acumula nivel de certificación, número de inmersiones e historial.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integración con ordenadores de buceo (IoT).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 del buceador (≈ 3 min)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011680"/>
            <a:ext cx="731520" cy="73152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entra con email + contraseña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OAuth2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240280"/>
            <a:ext cx="731520" cy="274320"/>
          </a:xfrm>
          <a:prstGeom prst="rightArrow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011680"/>
            <a:ext cx="731520" cy="7315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24h y publicaciones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técnicos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240280"/>
            <a:ext cx="731520" cy="274320"/>
          </a:xfrm>
          <a:prstGeom prst="rightArrow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0116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Inmersiones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filtrable, click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"Reservar" → modal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240280"/>
            <a:ext cx="731520" cy="274320"/>
          </a:xfrm>
          <a:prstGeom prst="rightArrow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2011680"/>
            <a:ext cx="731520" cy="7315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con Stripe/PayPal/demo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tick verde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2240280"/>
            <a:ext cx="731520" cy="274320"/>
          </a:xfrm>
          <a:prstGeom prst="rightArrow">
            <a:avLst/>
          </a:prstGeom>
          <a:solidFill>
            <a:srgbClr val="E8E3DC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69880" y="2011680"/>
            <a:ext cx="731520" cy="73152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698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92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926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confirmada,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notificaciones automáticas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la demo en navegador con sofia_buceo / admin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3.2.3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 + JWT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 (HS256)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1.18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7160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(InnoDB)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entidades JPA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+ procedures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secundarios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ddl-auto=update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mysqldump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37160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19202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Java SDK 24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REST API v2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java.net.http.HttpClient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credentials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TFG fallback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ES2020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 JS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1.9 + OpenStreetMap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+ ocean theme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móvil + bottom sheets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icons inline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74904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(PY)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matplotlib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ETL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estáticas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74904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297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local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(deploy)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opcional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por capas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17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(HTML/CSS/JS)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Bearer JWT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0" cy="13716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1488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94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2788920"/>
            <a:ext cx="0" cy="13716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292608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971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· 14 controllers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566160"/>
            <a:ext cx="0" cy="13716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7033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· lógica + transacciones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4343400"/>
            <a:ext cx="0" cy="13716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4805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526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JPA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 · queries derivadas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5120640"/>
            <a:ext cx="0" cy="13716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52578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0B1A2B"/>
          </a:solidFill>
          <a:ln w="12700">
            <a:solidFill>
              <a:srgbClr val="0B1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303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tablas + 5 vistas + 3 SP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18288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24231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468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REST v2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0175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36118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657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42062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(hosting)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SQL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0" y="1371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601200" y="1371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3FN</a:t>
            </a:r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centrales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CentroBuceo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0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480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480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480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480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4480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480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SolicitudSeguimiento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4480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4480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PuntoMapa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Pasarela de pago: 3 modos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detecta automáticamente la configuración del backend y se adapta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2243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Demo TFG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configuradas. La pestaña Tarjeta valida con Luhn local y marca PAID directamente.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3291840" cy="0"/>
          </a:xfrm>
          <a:prstGeom prst="line">
            <a:avLst/>
          </a:prstGeom>
          <a:noFill/>
          <a:ln w="12700">
            <a:solidFill>
              <a:srgbClr val="2EC4B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3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presentaciones, desarrollo local y CI sin secretos.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2243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737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Sandbox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27889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sandbox real (api-m.sandbox.paypal.com) y/o Stripe test keys. Las reservas se confirman con dinero ficticio.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526280"/>
            <a:ext cx="3291840" cy="0"/>
          </a:xfrm>
          <a:prstGeom prst="line">
            <a:avLst/>
          </a:prstGeom>
          <a:noFill/>
          <a:ln w="12700">
            <a:solidFill>
              <a:srgbClr val="2EC4B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92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3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end-to-end de la integración con tarjetas de prueba.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2243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1737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Live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27889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reales (PAYPAL_CLIENT_ID + STRIPE_SECRET_KEY). Cobros reales, mismo código.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526280"/>
            <a:ext cx="3291840" cy="0"/>
          </a:xfrm>
          <a:prstGeom prst="line">
            <a:avLst/>
          </a:prstGeom>
          <a:noFill/>
          <a:ln w="12700">
            <a:solidFill>
              <a:srgbClr val="2EC4B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3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Producción. Sólo se requieren env vars: cero cambios de código.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badge en el modal de pago muestra siempre el modo activo. Idempotencia garantizada en /verify.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y autenticación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HS256 firmado con secret de 64+ caracteres. Expira en 24h. Inyectado en SecurityContext por JwtAuthenticationFilter antes del UsernamePasswordAuthenticationFilter.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factor 10 (~80 ms por hash). Las contraseñas en plano nunca se loguean ni se serializan. Almacenadas en columna password con hash completo (incluye salt).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filtros stateless con CSRF deshabilitado (API JSON). Matchers explícitos por ruta: público lo mínimo (catálogo, login, recursos estáticos), todo lo demás autenticado.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Google opcional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6177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Activable con flag GOOGLE_OAUTH_ENABLED. Flujo: botón Google → /oauth2/authorization/google → callback → GoogleOAuth2SuccessHandler crea/actualiza usuario y emite JWT.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y headers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restrictivo en producción. Headers X-Content-Type-Options, X-Frame-Options activos por defecto. Validación exhaustiva en uploads (MIME + extensión + UUID nombres).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sin framework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consciente: HTML + CSS + JS vanilla para auditabilidad y peso mínimo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páginas 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feed, Inmersiones, reservas, Perfil, buscar, mapa, notificaciones, admin, empresa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ocean theme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fondo subacuático animado, light rays, dock con halo, hover lift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módulos 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api.js, auth.js, nav.js, payment.js, publicaciones.js, ocean-effects.js, animations.js, etc.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móvil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sheets, viewport-fit=cover, safe-area-inset, inputs 44px y font-size 16px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dependencias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Leaflet 1.9 para el mapa. Ni jQuery, ni React, ni Vue. Bundle final: &lt; 50 KB CSS+JS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640080" cy="457200"/>
          </a:xfrm>
          <a:prstGeom prst="rect">
            <a:avLst/>
          </a:prstGeom>
          <a:solidFill>
            <a:srgbClr val="FFFBF5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#FFFBF5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warm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525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principal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2560320"/>
            <a:ext cx="640080" cy="457200"/>
          </a:xfrm>
          <a:prstGeom prst="rect">
            <a:avLst/>
          </a:prstGeom>
          <a:solidFill>
            <a:srgbClr val="0B1A2B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#0B1A2B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ink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5256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108960"/>
            <a:ext cx="640080" cy="457200"/>
          </a:xfrm>
          <a:prstGeom prst="rect">
            <a:avLst/>
          </a:prstGeom>
          <a:solidFill>
            <a:srgbClr val="00D4AA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#00D4AA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525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primario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657600"/>
            <a:ext cx="640080" cy="457200"/>
          </a:xfrm>
          <a:prstGeom prst="rect">
            <a:avLst/>
          </a:prstGeom>
          <a:solidFill>
            <a:srgbClr val="FF6B6B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#FF6B6B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525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/ acción destructiva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206240"/>
            <a:ext cx="640080" cy="457200"/>
          </a:xfrm>
          <a:prstGeom prst="rect">
            <a:avLst/>
          </a:prstGeom>
          <a:solidFill>
            <a:srgbClr val="F5A623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#F5A623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25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/ badges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754880"/>
            <a:ext cx="640080" cy="457200"/>
          </a:xfrm>
          <a:prstGeom prst="rect">
            <a:avLst/>
          </a:prstGeom>
          <a:solidFill>
            <a:srgbClr val="62B6CB"/>
          </a:solidFill>
          <a:ln w="6350">
            <a:solidFill>
              <a:srgbClr val="E8E3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#62B6CB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surface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5256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superficial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Subida desde galería o cámara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capture="environment"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accept="image/*,video/*"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37160" cy="274320"/>
          </a:xfrm>
          <a:prstGeom prst="rightArrow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544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/api/uploads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multipart/form-data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FormData del navegador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2103120"/>
            <a:ext cx="137160" cy="274320"/>
          </a:xfrm>
          <a:prstGeom prst="rightArrow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5544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MIME image/*  +  video/*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blanca extensiones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8040" y="2103120"/>
            <a:ext cx="137160" cy="274320"/>
          </a:xfrm>
          <a:prstGeom prst="rightArrow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5544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UUID.png en uploads/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path traversal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64040" y="2103120"/>
            <a:ext cx="137160" cy="274320"/>
          </a:xfrm>
          <a:prstGeom prst="rightArrow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15544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38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/uploads/abc123.png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handler 1h cache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de uso conectados al mismo endpoint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0EA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con foto/vídeo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251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feed, modal "Nueva publicación" → Elegir de galería o cámara. Preview local instantáneo, upload en paralelo.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749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0EA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24h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4251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"Tu historia 24h" → mismo file picker. media_type detectado automáticamente (FOTO o VIDEO).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3749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0EA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0" y="4251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Editar perfil. Atributo capture="user" abre la cámara frontal en móvil. Preview circular 96px instantáneo.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Calidad: tests + CI/CD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automatizada en cada push a master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00" cy="4023360"/>
          </a:xfrm>
          <a:prstGeom prst="roundRect">
            <a:avLst>
              <a:gd name="adj" fmla="val 4545"/>
            </a:avLst>
          </a:prstGeom>
          <a:solidFill>
            <a:srgbClr val="12243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JUnit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clases · 0 fallos · build green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DD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Mockito + AssertJ + JUnit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2267712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ReservaService — caminos felices y errores controlados (5)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PayPalService — config, modos sandbox/live, token (8)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3090672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StripeService — isEnabled, createCheckoutSession (5)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502152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UploadController — MIME, extensión, UUID, video/foto (5)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3913632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EmojiStripMigration — rangos Unicode + edge cases (8)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con JDK 17 + Maven + cache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container MySQL 8 para tests integración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5440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Subida de JAR y reportes Surefire como artefactos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de imagen Docker en master (sin push)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Despliegue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caminos según el escenario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36576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sin Docker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desarrollo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3291840" cy="640080"/>
          </a:xfrm>
          <a:prstGeom prst="rect">
            <a:avLst/>
          </a:prstGeom>
          <a:solidFill>
            <a:srgbClr val="0B1A2B"/>
          </a:solidFill>
          <a:ln w="12700">
            <a:solidFill>
              <a:srgbClr val="0B1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./mvnw spring-boot:run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Rápido feedback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Hot reload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overhead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554480"/>
            <a:ext cx="36576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entorno aislado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468880"/>
            <a:ext cx="3291840" cy="640080"/>
          </a:xfrm>
          <a:prstGeom prst="rect">
            <a:avLst/>
          </a:prstGeom>
          <a:solidFill>
            <a:srgbClr val="0B1A2B"/>
          </a:solidFill>
          <a:ln w="12700">
            <a:solidFill>
              <a:srgbClr val="0B1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MySQL en contenedor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Reproducible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instalar nada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554480"/>
            <a:ext cx="36576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2468880"/>
            <a:ext cx="3291840" cy="640080"/>
          </a:xfrm>
          <a:prstGeom prst="rect">
            <a:avLst/>
          </a:prstGeom>
          <a:solidFill>
            <a:srgbClr val="0B1A2B"/>
          </a:solidFill>
          <a:ln w="12700">
            <a:solidFill>
              <a:srgbClr val="0B1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Blueprint detecta render.yaml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9536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SSL automático Let's Encrypt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Auto-deploy en push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 free + DB gestionada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final: ~120 MB (eclipse-temurin:17-jre-alpine + JAR Spring Boot)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técnicas notables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@Data + Set&lt;Entity&gt; en JPA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783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equals/hashCode generado por @Data cubría las colecciones, rompiendo Set.contains() con recursión infinita. Solución: bypass con SQL nativo en UsuarioRepository (existsSeguimiento, addSeguidor). Documentado y con tests.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demo + sandbox + live en un solo flujo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3063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detecta automáticamente el modo según la respuesta del backend. Cero código duplicado entre los tres modos. Badge visible en el modal para que el usuario sepa siempre dónde está.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sin framework 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43434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consciente de demostrar dominio de DOM/CSS sin abstracciones. Coste: repetir markup entre páginas. Beneficio: bundle &lt; 50 KB, audit trivial, feedback loop instantáneo (no bundler ni transpiler).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proximidad en SQL nativo (Haversine)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56235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no es traducible a JPQL puro. El SQL nativo permite paginar en BD y devolver una proyección Spring Data sin cargar entidades completas. Caliente, eficiente, defendible.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en datos reales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del Python ETL sobre la BD viva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1920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554480"/>
            <a:ext cx="54864" cy="19202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37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registrados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54864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Inmersiones activas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554480"/>
            <a:ext cx="54864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737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18972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54864" cy="1920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totales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749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3749040"/>
            <a:ext cx="54864" cy="19202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931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3429000" y="5029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749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749040"/>
            <a:ext cx="54864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931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290 €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6309360" y="5029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confirmados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3749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3749040"/>
            <a:ext cx="54864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3931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15.4 m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9189720" y="5029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media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scripts/analytics/dashboard.csv generado por analytics.py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DiveConnect · TFG 2º DAW ·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completo. Próximas iteraciones priorizadas en ISSUES.md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MVP (entrega)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+ marketplace + pasarela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desde galería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8288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SSL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554480"/>
            <a:ext cx="36576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— Calidad operativa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42316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uploads a S3 / R2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33756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programado de purga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425196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Skip-to-content link a11y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516636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con Playwright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155448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1554480"/>
            <a:ext cx="3657600" cy="36576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Escalado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2423160"/>
            <a:ext cx="18288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3337560"/>
            <a:ext cx="18288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para notificaciones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251960"/>
            <a:ext cx="18288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(en, pt, fr, it)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5166360"/>
            <a:ext cx="18288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Recomendador con análisis Python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36592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01184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5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65776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230368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394960"/>
            <a:ext cx="12188952" cy="0"/>
          </a:xfrm>
          <a:prstGeom prst="line">
            <a:avLst/>
          </a:prstGeom>
          <a:noFill/>
          <a:ln w="6350">
            <a:solidFill>
              <a:srgbClr val="2EC4B6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576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Mordoñez Estévez</a:t>
            </a:r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mmordoe685@g.educaand.es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E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github.com/mmordoe685/diveconnect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DiveConnect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· CFGS DAW · Curso 2025/26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DiveConnect — Defensa TFG</dc:title>
  <dc:subject>Trabajo de Fin de Grado · 2º DAW · Curso 2025/26</dc:subject>
  <dc:creator>Marcos Mordoñez</dc:creator>
  <cp:lastModifiedBy>Marcos Mordoñez</cp:lastModifiedBy>
  <cp:revision>1</cp:revision>
  <dcterms:created xsi:type="dcterms:W3CDTF">2026-05-06T17:53:26Z</dcterms:created>
  <dcterms:modified xsi:type="dcterms:W3CDTF">2026-05-06T17:53:26Z</dcterms:modified>
</cp:coreProperties>
</file>